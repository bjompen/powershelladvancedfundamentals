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Metadata/LabelInfo.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4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4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4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6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.xml.rels" ContentType="application/vnd.openxmlformats-package.relationships+xml"/>
  <Override PartName="/ppt/slides/_rels/slide50.xml.rels" ContentType="application/vnd.openxmlformats-package.relationships+xml"/>
  <Override PartName="/ppt/slides/_rels/slide42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51.xml.rels" ContentType="application/vnd.openxmlformats-package.relationships+xml"/>
  <Override PartName="/ppt/slides/_rels/slide4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52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53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49.xml.rels" ContentType="application/vnd.openxmlformats-package.relationships+xml"/>
  <Override PartName="/ppt/slides/_rels/slide14.xml.rels" ContentType="application/vnd.openxmlformats-package.relationships+xml"/>
  <Override PartName="/ppt/slides/_rels/slide48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44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slides/_rels/slide69.xml.rels" ContentType="application/vnd.openxmlformats-package.relationships+xml"/>
  <Override PartName="/ppt/slides/_rels/slide70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77.xml.rels" ContentType="application/vnd.openxmlformats-package.relationships+xml"/>
  <Override PartName="/ppt/slides/_rels/slide78.xml.rels" ContentType="application/vnd.openxmlformats-package.relationships+xml"/>
  <Override PartName="/ppt/slides/_rels/slide79.xml.rels" ContentType="application/vnd.openxmlformats-package.relationships+xml"/>
  <Override PartName="/ppt/slides/_rels/slide80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1.png" ContentType="image/png"/>
  <Override PartName="/ppt/media/image2.png" ContentType="image/png"/>
  <Override PartName="/ppt/media/image4.png" ContentType="image/png"/>
  <Override PartName="/ppt/media/hdphoto1.wdp" ContentType="image/vnd.ms-photo"/>
  <Override PartName="/ppt/media/image3.png" ContentType="image/png"/>
  <Override PartName="/ppt/media/image5.png" ContentType="image/png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move the slide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sv-S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dt" idx="3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ftr" idx="3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sldNum" idx="3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FA0DBA5-13BE-4EF3-973F-0D2D20554A92}" type="slidenum"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DA9D1B0-D190-460C-91CE-998D5345DF88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6117DB4-AC4B-4CAE-855B-91E2E57B0340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61E795-9DE4-438D-AAA9-7CFB46052536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630DB4-5615-406F-80C4-DAE691FBB6E9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F9AD92-D401-4C39-BB69-B60BA8AD5159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98E2176-959D-481C-8F58-B9418F125DDB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2C5D67-177B-4E49-A286-32A05BEC9E51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78A87BA-6DF9-4C73-815D-33C0D7B8A9F0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E69519-3F13-4224-AB2A-8E1CD052B486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Sixth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Seventh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</a:t>
            </a: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16FA87-CB79-43B1-9BB1-09E607598D6B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7FB148-A2BC-4259-A746-8ADAB83F3D3F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ext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AB0FBD-F4D4-4979-856D-B5994FB7A382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645039-37B3-4360-B6C3-19444AC2AE15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D5F16A-3FD3-4D5C-B20C-F624EC110DCE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101FF3-A6BC-4DBF-BBE1-040F7EB273C3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7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8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4E555E-076A-4CE4-ACC8-620804ACBFCF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E81D55-0F9F-4BB4-91A3-D67D79B2F06F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DFB818-C87B-4713-8F40-BC1744487AF9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FF1E0A-2D40-4B41-BD8B-058EB3273CE8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80" name="Picture 7" descr=""/>
          <p:cNvPicPr/>
          <p:nvPr/>
        </p:nvPicPr>
        <p:blipFill>
          <a:blip r:embed="rId4">
            <a:alphaModFix amt="70000"/>
          </a:blip>
          <a:stretch/>
        </p:blipFill>
        <p:spPr>
          <a:xfrm>
            <a:off x="5543280" y="457200"/>
            <a:ext cx="5808600" cy="3441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Picture 3" descr=""/>
          <p:cNvPicPr/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Sixth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Seventh Outline Level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F705A0-43DB-418B-A2E9-840E96C582FE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mailto:bjorn.sundling@advania.com" TargetMode="External"/><Relationship Id="rId2" Type="http://schemas.openxmlformats.org/officeDocument/2006/relationships/hyperlink" Target="https://bsky.app/profile/bjompen.com" TargetMode="External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i.redd.it/8341g68g1v7y.png" TargetMode="External"/><Relationship Id="rId3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hyperlink" Target="https://docs.microsoft.com/en-us/dotnet/standard/base-types/regular-expression-language-quick-reference" TargetMode="External"/><Relationship Id="rId2" Type="http://schemas.openxmlformats.org/officeDocument/2006/relationships/hyperlink" Target="https://regex101.com/" TargetMode="External"/><Relationship Id="rId3" Type="http://schemas.openxmlformats.org/officeDocument/2006/relationships/slideLayout" Target="../slideLayouts/slideLayout4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www.youtube.com/watch?v=BZ8X6nLGrxM" TargetMode="External"/><Relationship Id="rId3" Type="http://schemas.openxmlformats.org/officeDocument/2006/relationships/hyperlink" Target="https://www.youtube.com/watch?v=BZ8X6nLGrxM" TargetMode="External"/><Relationship Id="rId4" Type="http://schemas.openxmlformats.org/officeDocument/2006/relationships/hyperlink" Target="https://www.youtube.com/watch?v=BZ8X6nLGrxM" TargetMode="External"/><Relationship Id="rId5" Type="http://schemas.openxmlformats.org/officeDocument/2006/relationships/hyperlink" Target="https://www.youtube.com/watch?v=BZ8X6nLGrxM" TargetMode="External"/><Relationship Id="rId6" Type="http://schemas.openxmlformats.org/officeDocument/2006/relationships/hyperlink" Target="https://www.youtube.com/watch?v=BZ8X6nLGrxM" TargetMode="External"/><Relationship Id="rId7" Type="http://schemas.openxmlformats.org/officeDocument/2006/relationships/slideLayout" Target="../slideLayouts/slideLayout1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11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sv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Introduction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4B146A-62DD-4DAE-A744-78743F352315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sv-SE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Björn Sundling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bjorn.sundling@advania.com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https://bsky.app/profile/bjompen.com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Get-Participant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Get-Expectation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B76ED0-8744-436C-B630-3E589C023CFE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 Intro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with Pester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8F8CD1-16C8-456C-97F2-68FAA04BCABB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 (non technical)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Chapter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Coffee break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@ 9.00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Lunch @ ~11.30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Done @ ~16.00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Voluntary recap @ ~8.30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ACDF2B-16B8-4752-9AC1-FB2AB04AE6BA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Bring Your Own Lab!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It’s easier to understand your own issues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DED03A-E419-44A7-84A7-013F05661D6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How to do labs?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Lab.md</a:t>
            </a: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–No solutions.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Detailed.md – Some help.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than one way of solving an issue.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“If it’s stupid and it works, it’s not stupid”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FD2F9A-051A-4F70-A8D5-25ECE7BD29A0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0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00. Install PowerShell &amp; VSCode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705880-7689-4CF6-B30C-5352D8B4EA89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 Along!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Try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Break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Fix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Understand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EC741F-5C04-4BE8-936D-B044899516F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5C335C-0514-4F82-93FA-2AA193EBFD3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 version control?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Script-Folder problem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v1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v2.final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Central location for main data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Where's latest?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Snapshot based - Go back and forth in time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History of What, When and Whom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Collaboration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600767-98BE-4BA5-AF77-3802AE004CF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vs GitHub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is a protocol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is a Service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(with many many alternatives!)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572C71-2721-4183-A542-776A9DA74E52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service provider – GitHub/Azure DevOps/BitBucket et. al.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Fork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Pull request / PR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CLI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az devops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9B1FBF-687F-419C-8146-9EF44AB23E93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six commands!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status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Show current git changes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init / git clone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an empty repo or clone an existing “remote”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 vs. SSH?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add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one or more files for staging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pull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Find and download “remote” changes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commit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snapshot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 ‘message’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a commit message without entering vim…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push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Push changes to remote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4A6192-ADF0-4E3F-B28C-6C9069B38D3B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Working with branches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Strategies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Flow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Flow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Trunk based development / single branch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checkout –b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and change to it directly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branch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but stay on current one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6BC483-6DF4-4B43-A501-4315618E90DC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Visual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with CLI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Desktop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posh-git / OhMyPosh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CD046D-5FDB-41EA-A2A8-4BE7180A1E4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1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01. git Started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https://i.redd.it/8341g68g1v7y.png</a:t>
            </a: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- Git cheat sheet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17DC2A-9C55-4E17-BBD9-04A945A153AA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VSCode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FFD5E2-6B93-4C62-AE4F-307C2A570BD1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Free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Cross-platform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source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standard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D6B9B6-F7D0-44F5-96BD-123CA8225D8A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 Features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Folder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ISE mode (for the old school PowerShell devs)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Snippets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integration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Extensions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From PowerShell...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...via HTML previews....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..to live share!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CBA463-C94D-4432-B811-242E4D00BEBA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Editor Features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Move row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 Cursor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 select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Bracket pair colorization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8B1819-E0F3-446B-A6E3-B4D67AF542CC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Integration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IntelliSense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Code-format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2F7E3C-5EBD-4265-9886-F2011CD2F86D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F1 – The key to the kingdom.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B2F00B-AF7A-4AD5-B0AC-F6697D67BF2B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6034C2-1308-4198-9D35-76924625A9BB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Goal: Re-Use Code!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Multiple copies are hard to maintain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Never Copy &amp; Paste code!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Hiding details makes a script easier to read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901F06-7D6A-49D6-A777-AC84E97BAF52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Example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Just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and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7" name="Picture 4" descr=""/>
          <p:cNvPicPr/>
          <p:nvPr/>
        </p:nvPicPr>
        <p:blipFill>
          <a:blip r:embed="rId1"/>
          <a:stretch/>
        </p:blipFill>
        <p:spPr>
          <a:xfrm>
            <a:off x="3621960" y="990000"/>
            <a:ext cx="7612200" cy="551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Picture 6" descr=""/>
          <p:cNvPicPr/>
          <p:nvPr/>
        </p:nvPicPr>
        <p:blipFill>
          <a:blip r:embed="rId2"/>
          <a:stretch/>
        </p:blipFill>
        <p:spPr>
          <a:xfrm>
            <a:off x="3621960" y="2489400"/>
            <a:ext cx="5938560" cy="21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743F65-25F7-4C22-A61E-AECB910693A2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nodeType="withEffect" fill="hold" presetClass="emph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indefinite"/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4" dur="indefinite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Verb-Noun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Get-Verb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(Better in PS7!)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Unless you are writing “internal” functions.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84E2FD-DA27-49D9-B71E-59CF7B0DCEFC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scoped variables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$PSBoundParameters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Always available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contains key/value of parameters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$PSCmdlet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advanced functions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“everything” about a function execution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$PSCommandPath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saved files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full path to .ps1/.psm1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D41788-9830-4F71-A311-6398D48AC032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Extremely uncommon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own "Select" commands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like a function with all code in the ‘process’ block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Repeats once per input from pipeline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BA64A2-AC55-42B0-B0FC-B4F4DB0746BD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Not for pipelines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Easy to understand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Good for "helpers“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still use parameters, named or $args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E0A1C8-E990-479E-8D1F-A921D22B7A66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CmdletBinding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ConfirmImpact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DefaultParameterSetName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HelpUri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SupportsShouldProcess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OutputType()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E7DD3B-228E-4DF6-9ADA-1158B53FBC56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Begin {}, Process {}, End {}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(and clean {} if you are on 7.3 or later..)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If not defined, all code is in the end {} block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4B5DE8-AD8A-468C-BD18-A8E2E0FC1A7C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Rich Parameter support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Metadata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Mandatory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Position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Pipeline Input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ParameterSetName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Alias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HelpMessage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DontShow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Type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Implicit Casting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Validation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AllowNull()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AllowEmptyString()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ValidateCount(1,5)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ValidateLength(1,5)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ValidatePattern('+')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ValidateScript( { Test-Path $_ } 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ValidateSet( 'Apelsin', 'Banan', 'Clementin')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ErrorMessage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1B56E6-28C2-4519-B966-A29255D8E309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Switch-Parameters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 / Off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B78F0C-A735-47B5-8AE9-7197AE6C2404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2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02. Functions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1E452D-82A2-408C-8BFE-77BA66E0BB50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D44BEB-099E-496D-8DF4-88268E50177F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Comes from DSC – Dynamic State Configuration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Dev-Oriented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E31D53-83D8-4DD5-87CA-1A4B1444A021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[ClassName]::New()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New-Object -TypeName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8B5B38-5392-4955-8271-AD8103012277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output from return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Property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Method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Constructor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Hidden Property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Static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also do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Inheritance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Interfaces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More….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560715-3A27-46BE-82E9-E05BCD9594AE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 &lt;name&gt; {}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Bitflag-like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[flags()] enum &lt;name&gt; {}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C7D079-5793-47AC-8E4E-7F741FB3506E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3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03. Classes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3DA237-C76B-434D-8A3F-92477305685D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5970F5-E855-4A80-B383-B6515EA59863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Pattern matching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Validating input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Searching for part of 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 searching w. Select-String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Phone number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Birth date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Replacing 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EF2DC9-D701-4F77-81A1-A9905FF6A117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-Match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$matches variable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[regex]::Match / [regex]::Matches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Case sensitive!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6207B7-51A9-4F39-8A83-41598D4F53C7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 web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But remember to check the RegEx flavors – PowerShell uses .Net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sng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Regular Expression Language - Quick Reference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Learn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Regex101.com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Online regex tester and debugger: PHP, PCRE, Python, Golang and JavaScript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244C3D-EE46-48B1-A215-F039B01F5B97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Special characters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[]$.|?*+()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DCBA8B-A1C3-4A6E-99F6-C321C1937C87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classes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Space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Digit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group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728F3B-1D64-45EF-827C-66982CF46407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Quantifiers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?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*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+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{2,5}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3358F0-0F8A-48AD-AB92-B91D22B5ECF9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Groups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Subexpression  My name is (+)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Named Subexpression  My name is (?&lt;name&gt;+)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5E2D48-9880-4A24-BAD8-62973629F3D1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4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04. Regex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96D5D4-82D5-422E-A963-C41D2A6B16A5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(yeah, ok, web APIs…)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460A1D-2760-486F-A3FE-7E574709704B}" type="slidenum">
              <a:t>51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What is an API?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Rest and SOAP.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A94601-D3F5-4DD8-9EF8-0A2A96796F32}" type="slidenum">
              <a:t>52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Invoke-WebRequest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Raw data results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Invoke-RestMethod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Parses results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in PowerShell 7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Entirely different backend in PS7 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different. Verify your code.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85F0FC-BD10-47BD-89D0-2A6783BA5056}" type="slidenum">
              <a:t>53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Authentication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Username / password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 - Personal Access Tokens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OAUTH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-UseDefaultCredentials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15FCFE-51EF-4C67-9B74-B4993B2DFDAA}" type="slidenum">
              <a:t>54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[Net.ServicePointManager]::SecurityProtocol = [Net.SecurityProtocolType]::Tls12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Encoding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[console]::OutputEncoding = [System.Text.Encoding]::UTF8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C73BF0-371E-4999-BACF-EB97B84C013C}" type="slidenum">
              <a:t>55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5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05. API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793515-31A0-4153-AFC9-1931D9055A2D}" type="slidenum">
              <a:t>56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3C2945-F5B9-4398-94C6-E6D9366DEAE9}" type="slidenum">
              <a:t>57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Two kinds of errors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Terminating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Stops the command or pipeline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-ErrorAction Stop ; Write-Host 'bad file is bad'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Non-terminating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Continues the command or pipeline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; Write-Host 'bad file is bad'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(actually three – or even more - Statement terminating and script terminating)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https://stackoverflow.com/a/72802148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3E2D8C-0D18-4EB8-8452-5CF5284BFED8}" type="slidenum">
              <a:t>58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ErrorAction / ErrorActionPreference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ErrorView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Get-Error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Coming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soon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Available in 7.5 – RecommendedAction!)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463CB3-104C-4C9D-9051-737F3E2E55D0}" type="slidenum">
              <a:t>59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Try/Catch/Finally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Trap{}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440F05-A976-49CF-A57C-A9EAC12527B7}" type="slidenum">
              <a:t>60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6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06. Error Handling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The art of throwing errors - Emrys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3"/>
              </a:rPr>
              <a:t>MacInally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4"/>
              </a:rPr>
              <a:t> -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5"/>
              </a:rPr>
              <a:t>PSConfEU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6"/>
              </a:rPr>
              <a:t> 2024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A3CFD1-7A09-422B-9AF8-A01349DD476A}" type="slidenum">
              <a:t>61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0A83B9-2B8F-49D7-AD22-0FBA2F000E89}" type="slidenum">
              <a:t>62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Hard see what happens inside your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than “Write-Host” </a:t>
            </a: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😉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debug other and external processes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2E2732-462C-4201-9354-8EA3181B33B1}" type="slidenum">
              <a:t>63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VSCode Breakpoints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Condition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HitCount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Watch window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381F08-9AB4-46B1-852F-CF41D65C99EF}" type="slidenum">
              <a:t>64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Set-PSBreakpoint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Column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Variable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7E22BD-FB3A-460C-837A-F38E987A89E8}" type="slidenum">
              <a:t>65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7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07. Debugging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7E309A-2DF6-4F29-AB6F-6C16A1127976}" type="slidenum">
              <a:t>66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72916A-2623-48CB-882F-99012AA54103}" type="slidenum">
              <a:t>67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psm1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Folder name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Manifest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2E9766-A5D3-4EE1-B6A1-17EBF3C6DACF}" type="slidenum">
              <a:t>68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Splitting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Private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250628-B460-4143-8C14-D08BF2F3DFEC}" type="slidenum">
              <a:t>69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Combining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Faster load time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Looking good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0CF49D-F2D1-4DBA-B9D2-240FCEADF485}" type="slidenum">
              <a:t>70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 Based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External Help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BF3F43-D0DA-47F5-9080-1DC470DF87A5}" type="slidenum">
              <a:t>71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 helper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ModuleBuilder - Combine and build your modules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PlatyPS - Write help in Markdown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Invoke-Build - Build automation tool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Sampler - All of the above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6EBE4D-1C86-4DBE-BD54-7933DD08677C}" type="slidenum">
              <a:t>72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Modules can be done in C# or F#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Publish to PSGallery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Possible to create your own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439434-DC2E-4261-AE8A-14B6C2DEFD86}" type="slidenum">
              <a:t>73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8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08. Building Modules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A45422-0E14-4A6D-AFA7-2C4DA27BECBF}" type="slidenum">
              <a:t>74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668CA1-73A8-4273-990F-0E1C0BD43E4D}" type="slidenum">
              <a:t>75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Integration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F059B8-4AF9-436B-9B01-A3D87CC7C776}" type="slidenum">
              <a:t>76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Describe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Should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Mock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A6AAF6-91E5-45B1-A5C8-AB09170D2E2B}" type="slidenum">
              <a:t>77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TDD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Infrastructure Testing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964AD2-54D2-4A7D-A295-154C00224AA6}" type="slidenum">
              <a:t>78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9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09. Pester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9E52F2-F5BA-464C-9FF9-201999DEC822}" type="slidenum">
              <a:t>79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Bjorn.sundling@advania.com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Metadata/LabelInfo.xml><?xml version="1.0" encoding="utf-8"?>
<clbl:labelList xmlns:clbl="http://schemas.microsoft.com/office/2020/mipLabelMetadata">
  <clbl:label id="{f19e1f18-975f-4467-8967-eb98acd961ab}" enabled="1" method="Privileged" siteId="{70d22a8d-923a-445e-82d4-32329da2174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1589</TotalTime>
  <Application>LibreOffice/25.8.3.2$Windows_X86_64 LibreOffice_project/8ca8d55c161d602844f5428fa4b58097424e324e</Application>
  <AppVersion>15.0000</AppVersion>
  <Words>2244</Words>
  <Paragraphs>617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2024-08-01T08:10:01Z</dcterms:created>
  <dc:creator>Björn Sundling</dc:creator>
  <dc:description/>
  <dc:language>sv-SE</dc:language>
  <cp:lastModifiedBy/>
  <dcterms:modified xsi:type="dcterms:W3CDTF">2026-01-02T08:23:05Z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Widescreen</vt:lpwstr>
  </property>
  <property fmtid="{D5CDD505-2E9C-101B-9397-08002B2CF9AE}" pid="4" name="Slides">
    <vt:i4>79</vt:i4>
  </property>
</Properties>
</file>