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4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0.xml.rels" ContentType="application/vnd.openxmlformats-package.relationships+xml"/>
  <Override PartName="/ppt/slides/_rels/slide4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47.xml.rels" ContentType="application/vnd.openxmlformats-package.relationships+xml"/>
  <Override PartName="/ppt/slides/_rels/slide3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64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.xml.rels" ContentType="application/vnd.openxmlformats-package.relationships+xml"/>
  <Override PartName="/ppt/slides/_rels/slide50.xml.rels" ContentType="application/vnd.openxmlformats-package.relationships+xml"/>
  <Override PartName="/ppt/slides/_rels/slide42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51.xml.rels" ContentType="application/vnd.openxmlformats-package.relationships+xml"/>
  <Override PartName="/ppt/slides/_rels/slide43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52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53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49.xml.rels" ContentType="application/vnd.openxmlformats-package.relationships+xml"/>
  <Override PartName="/ppt/slides/_rels/slide14.xml.rels" ContentType="application/vnd.openxmlformats-package.relationships+xml"/>
  <Override PartName="/ppt/slides/_rels/slide48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44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54.xml.rels" ContentType="application/vnd.openxmlformats-package.relationships+xml"/>
  <Override PartName="/ppt/slides/_rels/slide55.xml.rels" ContentType="application/vnd.openxmlformats-package.relationships+xml"/>
  <Override PartName="/ppt/slides/_rels/slide56.xml.rels" ContentType="application/vnd.openxmlformats-package.relationships+xml"/>
  <Override PartName="/ppt/slides/_rels/slide57.xml.rels" ContentType="application/vnd.openxmlformats-package.relationships+xml"/>
  <Override PartName="/ppt/slides/_rels/slide58.xml.rels" ContentType="application/vnd.openxmlformats-package.relationships+xml"/>
  <Override PartName="/ppt/slides/_rels/slide59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67.xml.rels" ContentType="application/vnd.openxmlformats-package.relationships+xml"/>
  <Override PartName="/ppt/slides/_rels/slide68.xml.rels" ContentType="application/vnd.openxmlformats-package.relationships+xml"/>
  <Override PartName="/ppt/slides/_rels/slide69.xml.rels" ContentType="application/vnd.openxmlformats-package.relationships+xml"/>
  <Override PartName="/ppt/slides/_rels/slide70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75.xml.rels" ContentType="application/vnd.openxmlformats-package.relationships+xml"/>
  <Override PartName="/ppt/slides/_rels/slide76.xml.rels" ContentType="application/vnd.openxmlformats-package.relationships+xml"/>
  <Override PartName="/ppt/slides/_rels/slide77.xml.rels" ContentType="application/vnd.openxmlformats-package.relationships+xml"/>
  <Override PartName="/ppt/slides/_rels/slide78.xml.rels" ContentType="application/vnd.openxmlformats-package.relationships+xml"/>
  <Override PartName="/ppt/slides/_rels/slide79.xml.rels" ContentType="application/vnd.openxmlformats-package.relationships+xml"/>
  <Override PartName="/ppt/slides/_rels/slide80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_rels/notesSlide4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sv-S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sv-S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sv-S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sv-S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87AA78C-9796-4EDC-942F-FCB1AD531E86}" type="slidenum"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011188-72B9-4A3C-B09E-E0CFF4546013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12E947-73CB-41B1-AE7B-D8315A405A25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8E8AB4-5965-4E4B-8093-9701EDB83BB3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A8A3CF-C956-4DB5-BC87-B483A9BA8EEC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9448F9-933B-4483-A188-755688A2699F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058745-5311-4511-91D4-DE848E45839D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79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B4C104-6571-4D32-A75F-C462B0B71708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FDBC40-9356-4310-8B45-3CF98DC15C35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3880" y="2003040"/>
            <a:ext cx="9143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46E319-3B56-4B12-84CD-3795344DCBE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5BB250-B076-44B5-89F1-5A01B2126BBC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09A36461-2E35-4175-A6B9-8E24E9C829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sv-SE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16F1259C-7761-42AD-8AC1-98FD86DC8DF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sv-SE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C822099-6245-4788-99D8-B585BD5982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sv-S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56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040" cy="154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2178360"/>
            <a:ext cx="9143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sv-SE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Björn Sundling  bjorn.sundling@advania.com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4D4321-2F93-47A5-A22F-EAD7442FCAFF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21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  <p:sldLayoutId id="2147483650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56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040" cy="154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ftr" idx="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CCBAD7-2F0F-46F2-A22B-CC0680A82BC3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sv-SE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56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040" cy="154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ftr" idx="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EE2568-1277-4F03-96CE-1D1C79B9F351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sv-SE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56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040" cy="154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7" descr=""/>
          <p:cNvPicPr/>
          <p:nvPr/>
        </p:nvPicPr>
        <p:blipFill>
          <a:blip r:embed="rId4">
            <a:alphaModFix amt="70000"/>
          </a:blip>
          <a:stretch/>
        </p:blipFill>
        <p:spPr>
          <a:xfrm>
            <a:off x="5543280" y="457200"/>
            <a:ext cx="5808240" cy="344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ftr" idx="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ldNum" idx="1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C62E15-A182-468E-B619-E2CE1B7C325C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sv-SE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sv-SE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mailto:bjorn.sundling@advania.com" TargetMode="External"/><Relationship Id="rId2" Type="http://schemas.openxmlformats.org/officeDocument/2006/relationships/hyperlink" Target="https://bsky.app/profile/bjompen.com" TargetMode="External"/><Relationship Id="rId3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hyperlink" Target="https://i.redd.it/8341g68g1v7y.png" TargetMode="External"/><Relationship Id="rId3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https://code.visualstudio.com/docs/configure/keybindings#_keyboard-shortcuts-reference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hyperlink" Target="https://docs.microsoft.com/en-us/dotnet/standard/base-types/regular-expression-language-quick-reference" TargetMode="External"/><Relationship Id="rId2" Type="http://schemas.openxmlformats.org/officeDocument/2006/relationships/hyperlink" Target="https://regex101.com/" TargetMode="External"/><Relationship Id="rId3" Type="http://schemas.openxmlformats.org/officeDocument/2006/relationships/slideLayout" Target="../slideLayouts/slideLayout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hyperlink" Target="https://www.youtube.com/watch?v=BZ8X6nLGrxM" TargetMode="External"/><Relationship Id="rId3" Type="http://schemas.openxmlformats.org/officeDocument/2006/relationships/hyperlink" Target="https://www.youtube.com/watch?v=BZ8X6nLGrxM" TargetMode="External"/><Relationship Id="rId4" Type="http://schemas.openxmlformats.org/officeDocument/2006/relationships/hyperlink" Target="https://www.youtube.com/watch?v=BZ8X6nLGrxM" TargetMode="External"/><Relationship Id="rId5" Type="http://schemas.openxmlformats.org/officeDocument/2006/relationships/hyperlink" Target="https://www.youtube.com/watch?v=BZ8X6nLGrxM" TargetMode="External"/><Relationship Id="rId6" Type="http://schemas.openxmlformats.org/officeDocument/2006/relationships/hyperlink" Target="https://www.youtube.com/watch?v=BZ8X6nLGrxM" TargetMode="External"/><Relationship Id="rId7" Type="http://schemas.openxmlformats.org/officeDocument/2006/relationships/slideLayout" Target="../slideLayouts/slideLayout5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5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PowerShell Advanced Fundamentals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280" cy="16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Introduction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E48F8D4-0392-4F7A-ADFC-7DFD1F9A5CAC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sv-SE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Björn Sundling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bjorn.sundling@advania.com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2"/>
              </a:rPr>
              <a:t>https://bsky.app/profile/bjompen.com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You?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Get-Participant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Get-Expectation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C77D0EB-C242-4747-8166-993ADCF9FCA3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Agenda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 Intro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with Pester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A4AB641-4988-46F4-AF2B-EC075D29C93C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Agenda (non technical)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Chapter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Coffee break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Start @ 9.00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Lunch @ ~11.30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Done @ ~16.00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Voluntary recap @ ~8.30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375CFED-B2CE-4E1E-8F83-A95E4AC86F91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Bring Your Own Lab!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It’s easier to understand your own issues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C2B6EDE-A8CF-4A86-80C1-03341A01DD6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How to do labs?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Lab.md</a:t>
            </a: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–No solutions.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Detailed.md – Some help.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 than one way of solving an issue.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“If it’s stupid and it works, it’s not stupid”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0" defTabSz="91440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Run from file or change paths!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$PSScriptRoot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Dot source a file ’. .\MyFile.ps1’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2AFFA6D-7818-47A6-84D9-496BE02534CE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0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00. Install PowerShell &amp; VSCode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8CF00B49-EB42-42BA-9497-45C989FC9635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Try Along!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Try stuff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Break stuff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Fix stuff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Understand stuff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FE2AD10-0E74-425F-8886-8C05B7130E7F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D4115037-2A6F-49EC-8933-E2E776BF5366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Why version control?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Script-Folder problem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v1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v2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v2.final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Central location for main data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Where's latest?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Snapshot based - Go back and forth in time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History of What, When and Whom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Collaboration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C86765E-A802-40DC-93E5-A9E1668EBEEC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vs GitHub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is a protocol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is a Service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(with many many alternatives!)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5A196F2-3868-40D7-BE45-88EF3B5764E7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Your service provider – GitHub/Azure DevOps/BitBucket et. al.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Fork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Pull request / PR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CLI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CLI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az devops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12107B6-A779-4538-B66A-59F7B0B6CE32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Only six commands!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status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Show current git changes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init / git clone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an empty repo or clone an existing “remote”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HTTPS vs. SSH?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add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Add one or more files for staging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pull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Find and download “remote” changes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commit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snapshot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-m ‘message’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Add a commit message without entering vim…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push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Push changes to remote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9D2E32D-32EE-4EC4-88BF-72646918AC9C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Working with branches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Strategies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Flow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Flow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Trunk based development / single branch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checkout –b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branch and change to it directly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branch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branch but stay on current one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0A7D2D9-8C37-4181-97E0-2BD4EE6EDB9F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Visual tools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Start with CLI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Desktop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posh-git / OhMyPosh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Gource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2D9A321-2EE6-487E-830D-0F4A1155E34F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1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01. git Started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2"/>
              </a:rPr>
              <a:t>https://i.redd.it/8341g68g1v7y.png</a:t>
            </a: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 - Git cheat sheet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FBA88DB-41D8-47A8-AD2C-33CA8E603199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VSCode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EC2B70B5-67CA-411A-9846-97857C2872E4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Why?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Free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Cross-platform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Open source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Microsoft standard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9ED431C-DE97-47D1-8219-FED640A533F9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 Features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Open Folder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ISE mode (for the old school PowerShell devs)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Snippets / CoPilot integration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integration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Extensions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From PowerShell...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...via HTML previews....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..to live share!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F0148FF-757D-4423-8B4A-D1294A4E75B4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Editor Features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Move row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Duplicate row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Comment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 Cursor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Bracket pair colorization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8D2E632-4A85-4316-9BDE-F3B45B5D36F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Integration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Terminal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IntelliSense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Code-format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Debugger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530470A-72F8-47F6-8195-9356193D9FD3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753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F1 – The key to the kingdom.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Keybindings for all OS’s: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https://code.visualstudio.com/docs/configure/keybindings#_keyboard-shortcuts-reference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0" defTabSz="914400">
              <a:lnSpc>
                <a:spcPct val="90000"/>
              </a:lnSpc>
              <a:spcBef>
                <a:spcPts val="1134"/>
              </a:spcBef>
              <a:buNone/>
            </a:pPr>
            <a:endParaRPr b="0" lang="sv-SE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A79B223-8F5E-409B-8D72-6F0CB84583A8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FA9E2C90-1B68-49C0-81A6-52C753E0F8B1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Goal: Re-Use Code!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Multiple copies are hard to maintain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Never Copy &amp; Paste code!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Hiding details makes a script easier to read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2DD3EF9-78E6-4F49-BFC8-EBFC224DDFC5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Example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Just code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 and code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Picture 4" descr=""/>
          <p:cNvPicPr/>
          <p:nvPr/>
        </p:nvPicPr>
        <p:blipFill>
          <a:blip r:embed="rId1"/>
          <a:stretch/>
        </p:blipFill>
        <p:spPr>
          <a:xfrm>
            <a:off x="3621960" y="990000"/>
            <a:ext cx="7611840" cy="551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Picture 6" descr=""/>
          <p:cNvPicPr/>
          <p:nvPr/>
        </p:nvPicPr>
        <p:blipFill>
          <a:blip r:embed="rId2"/>
          <a:stretch/>
        </p:blipFill>
        <p:spPr>
          <a:xfrm>
            <a:off x="3621960" y="2489400"/>
            <a:ext cx="5938200" cy="213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5E130DC-1BDB-45C4-9EF3-DE238414B43E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nodeType="withEffect" fill="hold" presetClass="emph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indefinite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4" dur="indefinite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Verb-Noun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Get-Verb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(Better in PS7!)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Unless you are writing “internal” functions.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FA73B71-7C00-4C0C-92B1-258089D49E6B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 scoped variables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$PSBoundParameters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Always available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contains key/value of parameters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$PSCmdlet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advanced functions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“everything” about a function execution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$PSCommandPath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saved files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full path to .ps1/.psm1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$PSScriptRoot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saved files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parent of .ps1/.psm1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4C46093-CDF9-40CE-8A41-81B8465E80E4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Extremely uncommon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Your own "Select" commands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Behaves like a function with all code in the ‘process’ block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Repeats once per input from pipeline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A35BA15-05BF-4FE7-B7D2-8A0189FCC0FF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Not for pipelines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Easy to understand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Good for "helpers“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still use parameters, named or $args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59468D8-B2EA-49A6-A74A-96C3E5F52246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CmdletBinding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ConfirmImpact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DefaultParameterSetName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HelpUri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SupportsShouldProcess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OutputType()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10C72CB-B567-49DC-9EA5-1C46D76621EF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Begin {}, Process {}, End {}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(and clean {} if you are on 7.3 or later..)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If not defined, all code is in the end {} block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041D2E70-E93F-4A2A-96A0-0CFB7F52D08F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Rich Parameter support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Metadata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Mandatory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Position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Pipeline Input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ParameterSetName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Alias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HelpMessage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DontShow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Type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Implicit Casting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Validation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AllowNull()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AllowEmptyString()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ValidateCount(1,5)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ValidateLength(1,5)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ValidatePattern('+')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ValidateScript( { Test-Path $_ } 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ValidateSet( 'Apelsin', 'Banan', 'Clementin')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ErrorMessage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B60E321-141D-4F60-B353-E2C5E6233BF2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Switch-Parameters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 / Off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8C2BBA6-31BC-4149-B41C-25400E7BBD00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2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02. Functions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D19FBE0-C480-410B-B501-9BF729136E59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79E788F7-5951-4F9C-A7C1-60D32ED2FF59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Comes from DSC – Dynamic State Configuration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 Dev-Oriented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0E117CB-CD75-4CA5-B29A-3D646E1EAA62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[ClassName]::New()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New-Object -TypeName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362C31D-C236-4E30-91F8-65B3BF901990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Only output from return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Class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Property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Method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Constructor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Hidden Property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Static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also do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Inheritance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Interfaces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More….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E0A1790-8728-4825-A825-3BDEC5718463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Enum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enum &lt;name&gt; {}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Bitflag-like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[flags()] enum &lt;name&gt; {}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3804DAC-BAE9-4401-8FE6-94B3D3185C6D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3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03. Classes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B5346666-DCAD-4CE2-99B4-F16E99D06EC4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71499330-5E49-4495-8117-0B8F1A5ED29C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Pattern matching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Validating input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Searching for part of text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Log searching w. Select-String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Phone number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Birth date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Replacing text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FCB19C4-2506-4F3A-9433-460B02765DA6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-Match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$matches variable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[regex]::Match / [regex]::Matches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Case sensitive!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60B21D9-9E51-4DBC-85BE-76DE69F94BDA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Use web tools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But remember to check the RegEx flavors – PowerShell uses .Net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sng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Regular Expression Language - Quick Reference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Microsoft Learn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2"/>
              </a:rPr>
              <a:t>Regex101.com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Online regex tester and debugger: PHP, PCRE, Python, Golang and JavaScript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C7D21B3-3A81-4223-BD64-0685B6D848CA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Special characters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[]$.|?*+()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C026E66-9B1E-4960-8200-3AF0C3009E18}" type="slidenum">
              <a:t>46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Character classes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Word - \w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Space -\s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Digit - \d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Character group - [A-Za-z0-9]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Unicode - \P{IsGreek}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Negated classes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Word - \W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Space -\S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Digit - \D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82665035-ACB9-490D-B0E3-2485095E8E0B}" type="slidenum">
              <a:t>47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Quantifiers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?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*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+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{2}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{2,}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{2,5}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431A988-8ACC-4C9C-B822-72EE7FFD9611}" type="slidenum">
              <a:t>48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Groups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Subexpression  My name is (+)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Named Subexpression  My name is (?&lt;name&gt;+)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FDD4FC7-8E82-4BFB-802B-5A29D6B96068}" type="slidenum">
              <a:t>49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4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04. Regex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0E4529F-F27D-437F-BDBD-B9B5311C4DC3}" type="slidenum">
              <a:t>50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(yeah, ok, web APIs…)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A76DE3E9-C7A6-4A15-BEFA-14356A5861E1}" type="slidenum">
              <a:t>51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What is an API?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Rest and SOAP.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2B60CFD-3E74-4255-B556-7634589AF6E7}" type="slidenum">
              <a:t>52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Invoke-WebRequest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Raw data results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Invoke-RestMethod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Parses results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Better in PowerShell 7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Entirely different backend in PS7 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Behaves different. Verify your code.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CE97C9F-89C2-4132-94B1-0BE906AFC561}" type="slidenum">
              <a:t>53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Authentication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Username / password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PAT - Personal Access Tokens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OAUTH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-UseDefaultCredentials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1290A0D-12FE-48C2-B7D5-0244837D7FA9}" type="slidenum">
              <a:t>54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TLS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[Net.ServicePointManager]::SecurityProtocol = [Net.SecurityProtocolType]::Tls12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Encoding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[console]::OutputEncoding = [System.Text.Encoding]::UTF8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B39AD4C-5976-456C-B6AC-CF5F6A74B4F1}" type="slidenum">
              <a:t>55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5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05. API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30C1573C-A964-47D4-9F90-4D811620DE9B}" type="slidenum">
              <a:t>56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1672A18C-D874-4D6A-B1A1-A6662003A756}" type="slidenum">
              <a:t>57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Two kinds of errors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Terminating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Stops the command or pipeline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Get-Item 'BadFile.bad' -ErrorAction Stop ; Write-Host 'bad file is bad'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Non-terminating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Continues the command or pipeline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Get-Item 'BadFile.bad' ; Write-Host 'bad file is bad'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16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(actually three – or even more - Statement terminating and script terminating)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16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https://stackoverflow.com/a/72802148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66FD85B-A565-40E3-8499-EFCEA6FDDAF8}" type="slidenum">
              <a:t>58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ErrorAction / ErrorActionPreference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ErrorView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Get-Error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</a:t>
            </a:r>
            <a:r>
              <a:rPr b="0" lang="en-GB" sz="2800" strike="sngStrike" u="none">
                <a:solidFill>
                  <a:schemeClr val="lt1"/>
                </a:solidFill>
                <a:effectLst/>
                <a:uFillTx/>
                <a:latin typeface="Arial"/>
              </a:rPr>
              <a:t>Coming</a:t>
            </a: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b="0" lang="en-GB" sz="2800" strike="sngStrike" u="none">
                <a:solidFill>
                  <a:schemeClr val="lt1"/>
                </a:solidFill>
                <a:effectLst/>
                <a:uFillTx/>
                <a:latin typeface="Arial"/>
              </a:rPr>
              <a:t>soon</a:t>
            </a: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Available in 7.5 – RecommendedAction!)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8BF13ED-6622-4E63-8BFB-B00780F7BE32}" type="slidenum">
              <a:t>59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Try/Catch/Finally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Trap{}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5881CAA-0B84-4EFB-86A5-FD3CEE354C15}" type="slidenum">
              <a:t>60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6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06. Error Handling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2"/>
              </a:rPr>
              <a:t>The art of throwing errors - Emrys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3"/>
              </a:rPr>
              <a:t>MacInally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4"/>
              </a:rPr>
              <a:t> -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5"/>
              </a:rPr>
              <a:t>PSConfEU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6"/>
              </a:rPr>
              <a:t> 2024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B9CCB8C3-47EE-4884-B16A-95BF3E5770E3}" type="slidenum">
              <a:t>61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B213A548-D9AC-45CD-AA00-9A8A5E4B8246}" type="slidenum">
              <a:t>62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Hard see what happens inside your code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Better than “Write-Host” </a:t>
            </a: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😉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debug other and external processes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8062363-028C-4205-A576-BF9402E0A266}" type="slidenum">
              <a:t>63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VSCode Breakpoints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Line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Condition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HitCount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Log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Watch window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3B69089-D352-4A53-843F-974748712471}" type="slidenum">
              <a:t>64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Set-PSBreakpoint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Line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Column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Command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Variable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Mode</a:t>
            </a:r>
            <a:endParaRPr b="0" lang="sv-SE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3B45BBA-4FF7-4868-BE41-55B368B8D7B3}" type="slidenum">
              <a:t>65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7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07. Debugging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DB98E525-43E7-4FA7-A178-012E0200422B}" type="slidenum">
              <a:t>66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02A85400-3BF0-4E44-9856-5CF3D5907E3F}" type="slidenum">
              <a:t>67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psm1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Folder name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Manifest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49CAB76-12A3-45F7-8719-E0E65ABAB382}" type="slidenum">
              <a:t>68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Splitting code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Private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Public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Class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80E8A12-4224-4173-A296-D65E5B6FA1AE}" type="slidenum">
              <a:t>69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Combining code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Faster load time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Looking good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8ADADE6-2506-4612-AAD8-E1F22F6FA67B}" type="slidenum">
              <a:t>70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Comment Based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External Help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078470E-0D7A-46ED-A3EA-0B23ACAFD788}" type="slidenum">
              <a:t>71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 helper tools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ModuleBuilder - Combine and build your modules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PlatyPS - Write help in Markdown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Invoke-Build - Build automation tool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Sampler - All of the above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5C0C79B-BD45-4052-BC27-D318C531FBB4}" type="slidenum">
              <a:t>72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Modules can be done in C# or F#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Publish to PSGallery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Possible to create your own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8B61243-775E-4BFB-947A-0BCF672003F3}" type="slidenum">
              <a:t>73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8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08. Building Modules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C0293FE-6D1B-4F02-AC02-7357D2AD7D26}" type="slidenum">
              <a:t>74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552D271E-5C19-450D-B2F4-7CC6704F25CE}" type="slidenum">
              <a:t>75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Unit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Integration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63093AC-8C4F-4AA9-A110-CBF0FAC0F665}" type="slidenum">
              <a:t>76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Commands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Describe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Context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It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Should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Mock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EE39DE0-8255-44C2-8E05-D65E0FE4CE98}" type="slidenum">
              <a:t>77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TDD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Infrastructure Testing</a:t>
            </a:r>
            <a:endParaRPr b="0" lang="sv-SE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7392E58-1953-4C34-991D-91B10A649950}" type="slidenum">
              <a:t>78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40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32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9</a:t>
            </a: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sv-SE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sv-SE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09. Pester</a:t>
            </a:r>
            <a:endParaRPr b="0" lang="sv-SE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75A249D-5E3D-4B6E-B975-366349D47B35}" type="slidenum">
              <a:t>79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PowerShell Advanced Fundamentals</a:t>
            </a:r>
            <a:endParaRPr b="0" lang="sv-SE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280" cy="16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Bjorn.sundling@advania.com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2024-08-01T08:10:01Z</dcterms:created>
  <dc:creator>Björn Sundling</dc:creator>
  <dc:description/>
  <dc:language>sv-SE</dc:language>
  <cp:lastModifiedBy/>
  <dcterms:modified xsi:type="dcterms:W3CDTF">2026-01-02T17:30:26Z</dcterms:modified>
  <cp:revision>49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Widescreen</vt:lpwstr>
  </property>
  <property fmtid="{D5CDD505-2E9C-101B-9397-08002B2CF9AE}" pid="4" name="Slides">
    <vt:r8>79</vt:r8>
  </property>
</Properties>
</file>