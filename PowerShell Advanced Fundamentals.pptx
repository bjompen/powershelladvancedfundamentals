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6.xml" ContentType="application/vnd.openxmlformats-officedocument.theme+xml"/>
  <Override PartName="/ppt/presentation.xml" ContentType="application/vnd.openxmlformats-officedocument.presentationml.presentation.main+xml"/>
  <Override PartName="/ppt/slides/slide45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46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slides/slide40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4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9.xml" ContentType="application/vnd.openxmlformats-officedocument.presentationml.slide+xml"/>
  <Override PartName="/ppt/slides/slide14.xml" ContentType="application/vnd.openxmlformats-officedocument.presentationml.slide+xml"/>
  <Override PartName="/ppt/slides/slide48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64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4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46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47.xml.rels" ContentType="application/vnd.openxmlformats-package.relationships+xml"/>
  <Override PartName="/ppt/slides/_rels/slide3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6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.xml.rels" ContentType="application/vnd.openxmlformats-package.relationships+xml"/>
  <Override PartName="/ppt/slides/_rels/slide50.xml.rels" ContentType="application/vnd.openxmlformats-package.relationships+xml"/>
  <Override PartName="/ppt/slides/_rels/slide42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51.xml.rels" ContentType="application/vnd.openxmlformats-package.relationships+xml"/>
  <Override PartName="/ppt/slides/_rels/slide43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52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53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49.xml.rels" ContentType="application/vnd.openxmlformats-package.relationships+xml"/>
  <Override PartName="/ppt/slides/_rels/slide14.xml.rels" ContentType="application/vnd.openxmlformats-package.relationships+xml"/>
  <Override PartName="/ppt/slides/_rels/slide48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44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54.xml.rels" ContentType="application/vnd.openxmlformats-package.relationships+xml"/>
  <Override PartName="/ppt/slides/_rels/slide55.xml.rels" ContentType="application/vnd.openxmlformats-package.relationships+xml"/>
  <Override PartName="/ppt/slides/_rels/slide56.xml.rels" ContentType="application/vnd.openxmlformats-package.relationships+xml"/>
  <Override PartName="/ppt/slides/_rels/slide57.xml.rels" ContentType="application/vnd.openxmlformats-package.relationships+xml"/>
  <Override PartName="/ppt/slides/_rels/slide58.xml.rels" ContentType="application/vnd.openxmlformats-package.relationships+xml"/>
  <Override PartName="/ppt/slides/_rels/slide59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5.xml.rels" ContentType="application/vnd.openxmlformats-package.relationships+xml"/>
  <Override PartName="/ppt/slides/_rels/slide66.xml.rels" ContentType="application/vnd.openxmlformats-package.relationships+xml"/>
  <Override PartName="/ppt/slides/_rels/slide67.xml.rels" ContentType="application/vnd.openxmlformats-package.relationships+xml"/>
  <Override PartName="/ppt/slides/_rels/slide68.xml.rels" ContentType="application/vnd.openxmlformats-package.relationships+xml"/>
  <Override PartName="/ppt/slides/_rels/slide69.xml.rels" ContentType="application/vnd.openxmlformats-package.relationships+xml"/>
  <Override PartName="/ppt/slides/_rels/slide70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77.xml.rels" ContentType="application/vnd.openxmlformats-package.relationships+xml"/>
  <Override PartName="/ppt/slides/_rels/slide78.xml.rels" ContentType="application/vnd.openxmlformats-package.relationships+xml"/>
  <Override PartName="/ppt/slides/_rels/slide79.xml.rels" ContentType="application/vnd.openxmlformats-package.relationships+xml"/>
  <Override PartName="/ppt/slides/_rels/slide80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_rels/notesSlide4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0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sv-SE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sv-SE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sv-SE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sv-SE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8B26F9A-21F2-4EAF-894A-59FA4AF07A11}" type="slidenum">
              <a:rPr b="0" lang="sv-SE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sv-SE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4BD418-A1DD-4C3A-8B31-04B48E080FD8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9AAB22-6284-4FF4-AD09-79231E90B7FA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1C087E-82A1-48EA-B61D-B2627493687E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FB87EF-464C-4FAC-AE8D-91C952B95410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38522C-843B-4DEC-8DD6-858BC04FFA43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F0BAC9-7740-45C2-83F2-1CFEA1941ECB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B71F51-4098-4315-87C0-15B0945566B9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sv-SE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CD6B66-B018-437B-9F78-AE583E1046C7}" type="slidenum">
              <a:rPr b="0" lang="en-SE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79</a:t>
            </a:fld>
            <a:endParaRPr b="0" lang="sv-SE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920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680" cy="15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sv-SE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Björn Sundling  bjorn.sundling@advania.com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8BE3CA-BFBE-4EF4-9250-994BCB9BB64F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36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920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680" cy="15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2178000"/>
            <a:ext cx="9142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sv-SE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Björn Sundling  bjorn.sundling@advania.com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376A75-178B-4F4F-BCA6-EC73E20AC623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36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920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680" cy="15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7C63BB7-DC6C-4771-B24D-16F350F2309D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D097E8-F7FB-456E-BB48-73ACA8C09B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CF52632-1DA5-4538-B25E-24E4747D24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5639016-DBD9-4BD1-B3AC-B54177F0B6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sv-S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920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680" cy="15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&lt;footer&gt;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ED31DA-6C68-4B72-805C-25E0776120A2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v-S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v-S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920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680" cy="154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806B25-3BF7-48F5-AA4A-E70D59726FD5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v-S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13000">
              <a:srgbClr val="43454b"/>
            </a:gs>
            <a:gs pos="95000">
              <a:srgbClr val="8e919a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1" descr=""/>
          <p:cNvPicPr/>
          <p:nvPr/>
        </p:nvPicPr>
        <p:blipFill>
          <a:blip r:embed="rId2"/>
          <a:stretch/>
        </p:blipFill>
        <p:spPr>
          <a:xfrm>
            <a:off x="779400" y="6289200"/>
            <a:ext cx="1429200" cy="4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Picture 3" descr=""/>
          <p:cNvPicPr/>
          <p:nvPr/>
        </p:nvPicPr>
        <p:blipFill>
          <a:blip r:embed="rId3">
            <a:alphaModFix amt="20000"/>
          </a:blip>
          <a:stretch/>
        </p:blipFill>
        <p:spPr>
          <a:xfrm>
            <a:off x="10184760" y="5404680"/>
            <a:ext cx="1543680" cy="15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Picture 7" descr=""/>
          <p:cNvPicPr/>
          <p:nvPr/>
        </p:nvPicPr>
        <p:blipFill>
          <a:blip r:embed="rId4">
            <a:alphaModFix amt="70000"/>
          </a:blip>
          <a:stretch/>
        </p:blipFill>
        <p:spPr>
          <a:xfrm>
            <a:off x="5543280" y="457200"/>
            <a:ext cx="5807880" cy="344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v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FA23CB-9907-4636-A097-AE53ABFE51D6}" type="slidenum">
              <a:rPr b="0" lang="en-SE" sz="12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1</a:t>
            </a:fld>
            <a:endParaRPr b="0" lang="sv-SE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v-SE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sv-SE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v-SE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v-SE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mailto:bjorn.sundling@advania.com" TargetMode="External"/><Relationship Id="rId2" Type="http://schemas.openxmlformats.org/officeDocument/2006/relationships/hyperlink" Target="https://bsky.app/profile/bjompen.com" TargetMode="External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hyperlink" Target="https://i.redd.it/8341g68g1v7y.png" TargetMode="External"/><Relationship Id="rId3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hyperlink" Target="https://code.visualstudio.com/docs/configure/keybindings#_keyboard-shortcuts-reference" TargetMode="Externa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hyperlink" Target="https://docs.microsoft.com/en-us/dotnet/standard/base-types/regular-expression-language-quick-reference" TargetMode="External"/><Relationship Id="rId2" Type="http://schemas.openxmlformats.org/officeDocument/2006/relationships/hyperlink" Target="https://regex101.com/" TargetMode="External"/><Relationship Id="rId3" Type="http://schemas.openxmlformats.org/officeDocument/2006/relationships/slideLayout" Target="../slideLayouts/slideLayout4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hyperlink" Target="https://www.youtube.com/watch?v=BZ8X6nLGrxM" TargetMode="External"/><Relationship Id="rId3" Type="http://schemas.openxmlformats.org/officeDocument/2006/relationships/hyperlink" Target="https://www.youtube.com/watch?v=BZ8X6nLGrxM" TargetMode="External"/><Relationship Id="rId4" Type="http://schemas.openxmlformats.org/officeDocument/2006/relationships/hyperlink" Target="https://www.youtube.com/watch?v=BZ8X6nLGrxM" TargetMode="External"/><Relationship Id="rId5" Type="http://schemas.openxmlformats.org/officeDocument/2006/relationships/hyperlink" Target="https://www.youtube.com/watch?v=BZ8X6nLGrxM" TargetMode="External"/><Relationship Id="rId6" Type="http://schemas.openxmlformats.org/officeDocument/2006/relationships/hyperlink" Target="https://www.youtube.com/watch?v=BZ8X6nLGrxM" TargetMode="External"/><Relationship Id="rId7" Type="http://schemas.openxmlformats.org/officeDocument/2006/relationships/slideLayout" Target="../slideLayouts/slideLayout6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hyperlink" Target="https://github.com/AdvaniaSE/PowerShellAdvancedFundamentals" TargetMode="External"/><Relationship Id="rId2" Type="http://schemas.openxmlformats.org/officeDocument/2006/relationships/slideLayout" Target="../slideLayouts/slideLayout6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PowerShell Advanced Fundamentals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Introduction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F166BB1-2B86-46EE-9899-77B6F0C7C5E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sv-SE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Björn Sundling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bjorn.sundling@advania.com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https://bsky.app/profile/bjompen.com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Get-Participant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Get-Expectation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784455-C4AC-4D71-9D6A-95E9B0DEA54B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Agenda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 Intro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with Pester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3C2018E-A826-43E7-899E-3F245101CAD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Agenda (non technical)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Chapter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Coffee break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Start @ 9.00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Lunch @ ~11.30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Done @ ~16.00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Voluntary recap @ ~8.30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0A5F9A-05BF-495F-A704-AF4DF38A7D7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Bring Your Own Lab!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It’s easier to understand your own issues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848D7AC-2FE9-4605-911B-19E98659DF6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How to do labs?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Lab.md</a:t>
            </a: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–No solutions.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Detailed.md – Some help.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More than one way of solving an issue.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“If it’s stupid and it works, it’s not stupid”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0" defTabSz="91440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Run from file or change paths!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$PSScriptRoot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Dot source a file ’. .\MyFile.ps1’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29DDD60-5218-4943-BF78-0B60DAC3EC78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Introduction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0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00. Install PowerShell, VSCode, Git, and create a GitHub account.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DFB9F76-D58F-4DFD-82AF-82D83628BB84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Try Along!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Try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Break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Fix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Understand stuff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153A44B-0804-477E-905A-543F1EDF466D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659E083-52EA-4F7B-9DDE-E36C5E1D306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Why version control?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Script-Folder problem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v1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v2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v2.final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Central location for main data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Where's latest?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Snapshot based - Go back and forth in time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History of What, When and Whom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Collaboration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D4CC7A0-BB47-49E6-A298-B84CE44C1303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vs GitHub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is a protocol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is a Service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(with many many alternatives!)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9121A24-7AF2-44C9-8514-3FA1F93EB5B0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Your service provider – GitHub/Azure DevOps/BitBucket et. al.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Fork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Pull request / PR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CLI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CLI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az devops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2A5E49-4BEA-4209-84EC-E1F99EBD97D0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Only six commands!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status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Show current git changes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init / git clone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an empty repo or clone an existing “remote”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HTTPS vs. SSH?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add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Add one or more files for staging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pull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Find and download “remote” changes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commit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 snapshot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-m ‘message’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Add a commit message without entering vim…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push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Push changes to remote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4775559-4312-4D92-895B-8C6EE6D8283F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Working with branches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Strategies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Flow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Flow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Trunk based development / single branch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checkout –b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 branch and change to it directly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branch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Create a branch but stay on current one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F07156-637F-4DE8-A65D-08C3C36C4814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Visual tools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Start with CLI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GitHub Desktop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posh-git / OhMyPosh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Gource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5B08A22-8FFF-4C6F-8352-9C8C982FF52F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20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Started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1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01. git Started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2"/>
              </a:rPr>
              <a:t>https://i.redd.it/8341g68g1v7y.png</a:t>
            </a: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 - Git cheat sheet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C12F05E-77A4-4637-8A0F-63598CED8C98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VSCode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C1E6926-FED0-4BC0-8244-2A24853AA44E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Why?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Free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Cross-platform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Open source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Microsoft standard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5A5044-A590-4BBE-A738-4BE3FD7E482A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Basic Features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Open Folder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ISE mode (for the old school PowerShell devs)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Snippets / CoPilot integration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git integration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Extensions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From PowerShell...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...via HTML previews....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..to live share!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40BEB9B-C58F-4B2F-A675-6C3C0E4F935E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Editor Features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Move row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Duplicate row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Comment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Multi Cursor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Bracket pair colorization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D2A492-5C69-4C54-90F0-1FD64A2896EE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Integration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Terminal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IntelliSense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Code-format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Debugger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C040F70-3E45-4886-8417-894311B9FCCB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 Code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838080" y="1753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F1 – The key to the kingdom.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Keybindings for all OS’s: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https://code.visualstudio.com/docs/configure/keybindings#_keyboard-shortcuts-reference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64000" indent="0" defTabSz="914400">
              <a:lnSpc>
                <a:spcPct val="90000"/>
              </a:lnSpc>
              <a:spcBef>
                <a:spcPts val="1134"/>
              </a:spcBef>
              <a:buNone/>
              <a:tabLst>
                <a:tab algn="l" pos="0"/>
              </a:tabLst>
            </a:pPr>
            <a:endParaRPr b="0" lang="sv-SE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FE33F5-DB03-4555-A904-BFBEF4D6EC2D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B374248-C0ED-4C3F-A1B9-C6F21CDBE2F4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Goal: Re-Use Code!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Multiple copies are hard to maintain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Never Copy &amp; Paste code!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Hiding details makes a script easier to read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DA22C5A-5AA0-4A57-A98A-1F3EDD1629A2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Example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Just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Function and code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4" descr=""/>
          <p:cNvPicPr/>
          <p:nvPr/>
        </p:nvPicPr>
        <p:blipFill>
          <a:blip r:embed="rId1"/>
          <a:stretch/>
        </p:blipFill>
        <p:spPr>
          <a:xfrm>
            <a:off x="3621960" y="990000"/>
            <a:ext cx="7611480" cy="5519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6" descr=""/>
          <p:cNvPicPr/>
          <p:nvPr/>
        </p:nvPicPr>
        <p:blipFill>
          <a:blip r:embed="rId2"/>
          <a:stretch/>
        </p:blipFill>
        <p:spPr>
          <a:xfrm>
            <a:off x="3621960" y="2489400"/>
            <a:ext cx="5937840" cy="213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85D7C70-5CB0-411B-A7DA-A4AB95B20652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nodeType="withEffect" fill="hold" presetClass="emph" presetID="9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indefinite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dissolve" transition="in">
                                      <p:cBhvr additive="repl">
                                        <p:cTn id="14" dur="indefinite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Verb-Noun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Get-Verb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(Better in PS7!)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Unless you are writing “internal” functions.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3064A74-8C23-4B4F-81BB-611387EBA01F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Function scoped variables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$PSBoundParameters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Always available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contains key/value of parameters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$PSCmdlet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in advanced functions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Contains “everything” about a function execution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$PSCommandPath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in saved files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Contains full path to .ps1/.psm1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$PSScriptRoot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Only in saved files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Contains parent of .ps1/.psm1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0834E59-A800-406E-A9CB-BDC0798D6AFC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Extremely uncommon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Your own "Select" commands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Behaves like a function with all code in the ‘process’ block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Repeats once per input from pipeline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783ED6-E7D9-4166-8490-F7ADB86C3B49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Not for pipelines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Easy to understand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Good for "helpers“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Can still use parameters, named or $args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106CB07-FC8C-460F-81BF-4AEF5152E80B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CmdletBinding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ConfirmImpact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DefaultParameterSetName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HelpUri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SupportsShouldProcess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OutputType()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C76C07-E982-4876-B5DF-67A20F0E1EE5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Begin {}, Process {}, End {}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(and clean {} if you are on 7.3 or later..)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If not defined, all code is in the end {} block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5BCE4C3-A261-41A2-827D-EFFC39291D59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Rich Parameter support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Metadata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Mandatory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Position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Pipeline Input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ParameterSetName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Alias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HelpMessage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DontShow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Type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Implicit Casting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Validation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AllowNull()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AllowEmptyString()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ValidateCount(1,5)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ValidateLength(1,5)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ValidatePattern('+')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ValidateScript( { Test-Path $_ } 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ValidateSet( 'Apelsin', 'Banan', 'Clementin')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ErrorMessage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6669C81-845E-4CE6-9CDC-CAEAC9D78A61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Three Types of "functions"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Advanced Function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Switch-Parameters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 / Off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A15D08-D627-4559-A0AF-1867D4DA9E13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Filters, Functions and Advanced Functions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2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02. Functions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75CE251E-852A-4488-8FC3-E7B5D969C01E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E135EDC-6244-4654-AA56-5A1A2936B54D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Comes from DSC – Dynamic State Configuration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More Dev-Oriented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4DDFC61-4483-4DC4-A69C-AB44D846C2AF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[ClassName]::New()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New-Object -TypeName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60E3B3-0E97-4F4D-8285-E6714A6F93E4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Only output from return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Class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Property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Method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Constructor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Hidden Property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Static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Can also do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Inheritance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Interfaces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More….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22E362-7BB2-44B5-ABA7-E5F73B6751A7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Enum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enum &lt;name&gt; {}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Bitflag-like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[flags()] enum &lt;name&gt; {}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28C8F73-11A6-4CBB-995F-D10A24BC4CBD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PowerShell Classes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3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03. Classes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423DDB3-F189-4D4D-AB71-CC322B1B646B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9C9B912-29F8-4E88-9E22-FC27619543CA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Pattern matching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Validating input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Searching for part of text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Log searching w. Select-String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Phone number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Birth date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Replacing text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EC4EA4D-C2BC-4EEA-B17C-5501FC1C0DD5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-Match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$matches variable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[regex]::Match / [regex]::Matches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Case sensitive!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E340CF6-2E08-4C6A-9225-E8450B97FFB5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Use web tools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But remember to check the RegEx flavors – PowerShell uses .Net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trike="noStrike" u="sng">
                <a:solidFill>
                  <a:schemeClr val="lt1"/>
                </a:solidFill>
                <a:effectLst/>
                <a:uFillTx/>
                <a:latin typeface="Arial"/>
                <a:hlinkClick r:id="rId1"/>
              </a:rPr>
              <a:t>Regular Expression Language - Quick Reference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Microsoft Learn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Regex101.com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Online regex tester and debugger: PHP, PCRE, Python, Golang and JavaScript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14DD739-754C-4200-8648-6981560589E2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Special characters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[]$.|?*+()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70E8287-14CF-4C9D-9062-B5D5E483D805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Character classes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Word - \w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Space -\s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Digit - \d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Character group - [A-Za-z0-9]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Unicode - \P{IsGreek}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Negated classes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Word - \W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Space -\S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Digit - \D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D5DC576-C18E-478E-B856-EEF1C4CF6210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Quantifiers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?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*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+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{2}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{2,}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{2,5}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D2997D1-80C7-4BEB-8F51-80923C837948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Groups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Subexpression  My name is (+)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Named Subexpression  My name is (?&lt;name&gt;+)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9695BA1-A2A3-4CC1-9601-E61B07DBBCF3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Regex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4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04. Regex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3B82D5A1-7F89-4D1D-9C17-4B9B6355B432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>
                    <a:tint val="82000"/>
                  </a:schemeClr>
                </a:solidFill>
                <a:effectLst/>
                <a:uFillTx/>
                <a:latin typeface="Aptos"/>
              </a:rPr>
              <a:t>(yeah, ok, web APIs…)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DE6DCB0-96AB-43CD-9921-7EA516B1B50A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What is an API?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Rest and SOAP.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CFA144D-3C7B-423E-BB10-C70D007B7496}" type="slidenum">
              <a:t>52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Invoke-WebRequest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Raw data results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Invoke-RestMethod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Parses results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Better in PowerShell 7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Entirely different backend in PS7 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Behaves different. Verify your code.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C8C43E4-CF5F-46F6-B646-1BA21F27819F}" type="slidenum">
              <a:t>53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Authentication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Basic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Username / password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PAT - Personal Access Tokens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OAUTH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-UseDefaultCredentials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5C31B3-1DFD-4E14-8375-8AA75DD2C843}" type="slidenum">
              <a:t>54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[Net.ServicePointManager]::SecurityProtocol = [Net.SecurityProtocolType]::Tls12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Encoding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[console]::OutputEncoding = [System.Text.Encoding]::UTF8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4AF5020-AF72-48F5-B78B-B34E6481BA9D}" type="slidenum">
              <a:t>55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API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5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05. API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264217A-C022-4A6F-8039-87CEEC3E39A2}" type="slidenum">
              <a:t>56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5E5D4111-02BD-48AE-A945-D10079902749}" type="slidenum">
              <a:t>57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Two kinds of errors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Terminating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Stops the command or pipeline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Get-Item 'BadFile.bad' -ErrorAction Stop ; Write-Host 'bad file is bad'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Non-terminating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Continues the command or pipeline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Get-Item 'BadFile.bad' ; Write-Host 'bad file is bad'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(actually three – or even more - Statement terminating and script terminating)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16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https://stackoverflow.com/a/72802148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2F62184-FA3A-45A7-9FF4-67063A580E2C}" type="slidenum">
              <a:t>58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ErrorAction / ErrorActionPreference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ErrorView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Get-Error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(</a:t>
            </a:r>
            <a:r>
              <a:rPr b="0" lang="en-GB" sz="2800" strike="sngStrike" u="none">
                <a:solidFill>
                  <a:schemeClr val="lt1"/>
                </a:solidFill>
                <a:effectLst/>
                <a:uFillTx/>
                <a:latin typeface="Arial"/>
              </a:rPr>
              <a:t>Coming</a:t>
            </a: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r>
              <a:rPr b="0" lang="en-GB" sz="2800" strike="sngStrike" u="none">
                <a:solidFill>
                  <a:schemeClr val="lt1"/>
                </a:solidFill>
                <a:effectLst/>
                <a:uFillTx/>
                <a:latin typeface="Arial"/>
              </a:rPr>
              <a:t>soon</a:t>
            </a: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Available in 7.5 – RecommendedAction!)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4307E9A-51A0-449D-B4EE-1F1D53919B32}" type="slidenum">
              <a:t>59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Try/Catch/Finally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Trap{}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EF48738-50F1-47A6-AFE1-E01F2498D7AC}" type="slidenum">
              <a:t>60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Error Handling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6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06. Error Handling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 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2"/>
              </a:rPr>
              <a:t>The art of throwing errors - Emrys 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3"/>
              </a:rPr>
              <a:t>MacInally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4"/>
              </a:rPr>
              <a:t> - 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5"/>
              </a:rPr>
              <a:t>PSConfEU</a:t>
            </a: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6"/>
              </a:rPr>
              <a:t> 2024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5CE6AC8-709D-498C-A3F7-F0356A747C3F}" type="slidenum">
              <a:t>61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01767BC1-B5DE-4298-9A1D-E3C504650D77}" type="slidenum">
              <a:t>62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Hard see what happens inside your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Better than “Write-Host” </a:t>
            </a: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😉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Can debug other and external processes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167718B-5183-45D3-A4F3-57FA87B35571}" type="slidenum">
              <a:t>63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VSCode Breakpoints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Line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Condition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HitCount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Log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Watch window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6505AEC-92EF-4EAC-AB76-F5C8E951DEE2}" type="slidenum">
              <a:t>64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Set-PSBreakpoint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Line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Action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Column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Command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Action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Variable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Script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Action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Mode</a:t>
            </a:r>
            <a:endParaRPr b="0" lang="sv-SE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B939561-FF9B-476B-B717-639A40A0A1D4}" type="slidenum">
              <a:t>65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Debugging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7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07. Debugging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30D3694-C49D-4F89-A597-1F69408FA165}" type="slidenum">
              <a:t>66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2F64512-A37C-42E0-B561-9B38FAF600D5}" type="slidenum">
              <a:t>67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Basic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psm1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Folder name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Manifest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4A751FE-4DF8-4F55-8378-D938F60FF4B5}" type="slidenum">
              <a:t>68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Splitting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Private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Public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Class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E2A22AF-C90A-47C4-8135-B30B1A9A2665}" type="slidenum">
              <a:t>69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Combining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Faster load time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Looking good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5D80661-F1AB-45CA-81AC-9220DF465579}" type="slidenum">
              <a:t>70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Help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Comment Based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External Help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76119D7-B861-4021-A03B-8B27B3B865D9}" type="slidenum">
              <a:t>71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Module helper tools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ModuleBuilder - Combine and build your modules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PlatyPS - Write help in Markdown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Invoke-Build - Build automation tool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Sampler - All of the above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4E0092D-9CAE-4B3E-A7C0-C24EE63B606B}" type="slidenum">
              <a:t>72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Modules can be done in C# or F#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Publish to PSGallery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Possible to create your own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54F8BEC-B122-4CCD-9AC3-44797665CBEF}" type="slidenum">
              <a:t>73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Building Modules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8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08. Building Modules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E064B10-3C09-4FED-B6E8-479A2AC296D2}" type="slidenum">
              <a:t>74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520" cy="285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6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831960" y="4589640"/>
            <a:ext cx="10514520" cy="149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F0A3F60-E29A-4EC5-8221-FBA21AEAE37A}" type="slidenum">
              <a:t>75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Unit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Integration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90BDE97-13FE-4A89-A075-6874F2627B19}" type="slidenum">
              <a:t>76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Commands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Describe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Context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It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Should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Mock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C30104-EF73-4620-9DFB-327D1C4502D7}" type="slidenum">
              <a:t>77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TDD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28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Infrastructure Testing</a:t>
            </a:r>
            <a:endParaRPr b="0" lang="sv-SE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02EFB36-BB63-4E82-BD64-15DAFE872978}" type="slidenum">
              <a:t>78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9122040" cy="159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32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Testing Code with Pester</a:t>
            </a:r>
            <a:endParaRPr b="0" lang="sv-SE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839880" y="2057400"/>
            <a:ext cx="10875960" cy="381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en-GB" sz="44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Lab 9</a:t>
            </a: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sv-SE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trike="noStrike" u="sng">
                <a:solidFill>
                  <a:schemeClr val="lt1"/>
                </a:solidFill>
                <a:effectLst/>
                <a:uFillTx/>
                <a:latin typeface="Aptos"/>
                <a:hlinkClick r:id="rId1"/>
              </a:rPr>
              <a:t>https://github.com/AdvaniaSE/PowerShellAdvancedFundamentals</a:t>
            </a:r>
            <a:endParaRPr b="0" lang="sv-SE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09. Pester</a:t>
            </a:r>
            <a:endParaRPr b="0" lang="sv-SE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Björn Sundling  bjorn.sundling@advania.com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211C053-2708-4673-A6FA-CF5044BFF44B}" type="slidenum">
              <a:t>79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GB" sz="6000" strike="noStrike" u="none">
                <a:solidFill>
                  <a:schemeClr val="lt1"/>
                </a:solidFill>
                <a:effectLst/>
                <a:uFillTx/>
                <a:latin typeface="Aptos Display"/>
              </a:rPr>
              <a:t>PowerShell Advanced Fundamentals</a:t>
            </a:r>
            <a:endParaRPr b="0" lang="sv-SE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2920" cy="16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effectLst/>
                <a:uFillTx/>
                <a:latin typeface="Aptos"/>
              </a:rPr>
              <a:t>Bjorn.sundling@advania.com</a:t>
            </a:r>
            <a:endParaRPr b="0" lang="sv-SE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dbe9f7"/>
      </a:hlink>
      <a:folHlink>
        <a:srgbClr val="d5bec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2044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2024-08-01T08:10:01Z</dcterms:created>
  <dc:creator>Björn Sundling</dc:creator>
  <dc:description/>
  <dc:language>sv-SE</dc:language>
  <cp:lastModifiedBy/>
  <dcterms:modified xsi:type="dcterms:W3CDTF">2026-01-07T16:46:46Z</dcterms:modified>
  <cp:revision>51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Widescreen</vt:lpwstr>
  </property>
  <property fmtid="{D5CDD505-2E9C-101B-9397-08002B2CF9AE}" pid="4" name="Slides">
    <vt:r8>79</vt:r8>
  </property>
</Properties>
</file>